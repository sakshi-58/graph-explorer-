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753600" cy="7315200"/>
  <p:notesSz cx="6858000" cy="9144000"/>
  <p:embeddedFontLst>
    <p:embeddedFont>
      <p:font typeface="Times New Roman MT" charset="1" panose="02030502070405020303"/>
      <p:regular r:id="rId16"/>
    </p:embeddedFont>
    <p:embeddedFont>
      <p:font typeface="Times New Roman MT Bold" charset="1" panose="02030802070405020303"/>
      <p:regular r:id="rId17"/>
    </p:embeddedFont>
    <p:embeddedFont>
      <p:font typeface="Canva Sans" charset="1" panose="020B0503030501040103"/>
      <p:regular r:id="rId18"/>
    </p:embeddedFont>
    <p:embeddedFont>
      <p:font typeface="Canva Sans Bold" charset="1" panose="020B0803030501040103"/>
      <p:regular r:id="rId19"/>
    </p:embeddedFont>
    <p:embeddedFont>
      <p:font typeface="Lato Bold" charset="1" panose="020F0502020204030203"/>
      <p:regular r:id="rId20"/>
    </p:embeddedFont>
    <p:embeddedFont>
      <p:font typeface="Poppins Bold" charset="1" panose="00000800000000000000"/>
      <p:regular r:id="rId21"/>
    </p:embeddedFont>
    <p:embeddedFont>
      <p:font typeface="Calibri (MS)" charset="1" panose="020F0502020204030204"/>
      <p:regular r:id="rId22"/>
    </p:embeddedFont>
    <p:embeddedFont>
      <p:font typeface="Calibri (MS) Bold" charset="1" panose="020F07020304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88" t="0" r="-38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914400"/>
            <a:ext cx="9022080" cy="5486400"/>
            <a:chOff x="0" y="0"/>
            <a:chExt cx="12029440" cy="731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029440" cy="7315200"/>
            </a:xfrm>
            <a:custGeom>
              <a:avLst/>
              <a:gdLst/>
              <a:ahLst/>
              <a:cxnLst/>
              <a:rect r="r" b="b" t="t" l="l"/>
              <a:pathLst>
                <a:path h="7315200" w="12029440">
                  <a:moveTo>
                    <a:pt x="0" y="0"/>
                  </a:moveTo>
                  <a:lnTo>
                    <a:pt x="12029440" y="0"/>
                  </a:lnTo>
                  <a:lnTo>
                    <a:pt x="12029440" y="7315200"/>
                  </a:lnTo>
                  <a:lnTo>
                    <a:pt x="0" y="731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959" t="0" r="-2595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00481" y="3550468"/>
            <a:ext cx="6399776" cy="490523"/>
            <a:chOff x="0" y="0"/>
            <a:chExt cx="8533035" cy="6540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33035" cy="654030"/>
            </a:xfrm>
            <a:custGeom>
              <a:avLst/>
              <a:gdLst/>
              <a:ahLst/>
              <a:cxnLst/>
              <a:rect r="r" b="b" t="t" l="l"/>
              <a:pathLst>
                <a:path h="654030" w="8533035">
                  <a:moveTo>
                    <a:pt x="0" y="0"/>
                  </a:moveTo>
                  <a:lnTo>
                    <a:pt x="8533035" y="0"/>
                  </a:lnTo>
                  <a:lnTo>
                    <a:pt x="8533035" y="654030"/>
                  </a:lnTo>
                  <a:lnTo>
                    <a:pt x="0" y="6540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8533035" cy="74928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16"/>
                </a:lnSpc>
              </a:pPr>
              <a:r>
                <a:rPr lang="en-US" sz="2511">
                  <a:solidFill>
                    <a:srgbClr val="593C8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TITLE: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5181" y="4797518"/>
            <a:ext cx="6942500" cy="45678"/>
            <a:chOff x="0" y="0"/>
            <a:chExt cx="9256667" cy="609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56649" cy="60960"/>
            </a:xfrm>
            <a:custGeom>
              <a:avLst/>
              <a:gdLst/>
              <a:ahLst/>
              <a:cxnLst/>
              <a:rect r="r" b="b" t="t" l="l"/>
              <a:pathLst>
                <a:path h="60960" w="9256649">
                  <a:moveTo>
                    <a:pt x="0" y="48006"/>
                  </a:moveTo>
                  <a:lnTo>
                    <a:pt x="9256522" y="60960"/>
                  </a:lnTo>
                  <a:lnTo>
                    <a:pt x="9256649" y="12827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340351" y="1120987"/>
            <a:ext cx="2218765" cy="2194560"/>
          </a:xfrm>
          <a:custGeom>
            <a:avLst/>
            <a:gdLst/>
            <a:ahLst/>
            <a:cxnLst/>
            <a:rect r="r" b="b" t="t" l="l"/>
            <a:pathLst>
              <a:path h="2194560" w="2218765">
                <a:moveTo>
                  <a:pt x="0" y="0"/>
                </a:moveTo>
                <a:lnTo>
                  <a:pt x="2218765" y="0"/>
                </a:lnTo>
                <a:lnTo>
                  <a:pt x="2218765" y="2194560"/>
                </a:lnTo>
                <a:lnTo>
                  <a:pt x="0" y="21945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24" t="0" r="-524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032001" y="1101267"/>
            <a:ext cx="5929011" cy="314627"/>
            <a:chOff x="0" y="0"/>
            <a:chExt cx="7905348" cy="4195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05348" cy="419502"/>
            </a:xfrm>
            <a:custGeom>
              <a:avLst/>
              <a:gdLst/>
              <a:ahLst/>
              <a:cxnLst/>
              <a:rect r="r" b="b" t="t" l="l"/>
              <a:pathLst>
                <a:path h="419502" w="7905348">
                  <a:moveTo>
                    <a:pt x="0" y="0"/>
                  </a:moveTo>
                  <a:lnTo>
                    <a:pt x="7905348" y="0"/>
                  </a:lnTo>
                  <a:lnTo>
                    <a:pt x="7905348" y="419502"/>
                  </a:lnTo>
                  <a:lnTo>
                    <a:pt x="0" y="419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7905348" cy="48617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291"/>
                </a:lnSpc>
              </a:pPr>
              <a:r>
                <a:rPr lang="en-US" sz="1636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VISHWAKARMA INSTITUTE OF TECHNOLOGY, PUNE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44939" y="5166689"/>
            <a:ext cx="3158189" cy="649487"/>
            <a:chOff x="0" y="0"/>
            <a:chExt cx="4210919" cy="8659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10919" cy="865983"/>
            </a:xfrm>
            <a:custGeom>
              <a:avLst/>
              <a:gdLst/>
              <a:ahLst/>
              <a:cxnLst/>
              <a:rect r="r" b="b" t="t" l="l"/>
              <a:pathLst>
                <a:path h="865983" w="4210919">
                  <a:moveTo>
                    <a:pt x="0" y="0"/>
                  </a:moveTo>
                  <a:lnTo>
                    <a:pt x="4210919" y="0"/>
                  </a:lnTo>
                  <a:lnTo>
                    <a:pt x="4210919" y="865983"/>
                  </a:lnTo>
                  <a:lnTo>
                    <a:pt x="0" y="8659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4210919" cy="93265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284"/>
                </a:lnSpc>
              </a:pPr>
              <a:r>
                <a:rPr lang="en-US" sz="1632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SY  -  CSAI-A</a:t>
              </a:r>
            </a:p>
            <a:p>
              <a:pPr algn="l">
                <a:lnSpc>
                  <a:spcPts val="2284"/>
                </a:lnSpc>
              </a:pPr>
              <a:r>
                <a:rPr lang="en-US" sz="1632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GROUP NO: 02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242560" y="5308935"/>
            <a:ext cx="3962400" cy="371155"/>
            <a:chOff x="0" y="0"/>
            <a:chExt cx="5283200" cy="4948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83200" cy="494873"/>
            </a:xfrm>
            <a:custGeom>
              <a:avLst/>
              <a:gdLst/>
              <a:ahLst/>
              <a:cxnLst/>
              <a:rect r="r" b="b" t="t" l="l"/>
              <a:pathLst>
                <a:path h="494873" w="5283200">
                  <a:moveTo>
                    <a:pt x="0" y="0"/>
                  </a:moveTo>
                  <a:lnTo>
                    <a:pt x="5283200" y="0"/>
                  </a:lnTo>
                  <a:lnTo>
                    <a:pt x="5283200" y="494873"/>
                  </a:lnTo>
                  <a:lnTo>
                    <a:pt x="0" y="494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5283200" cy="5710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307"/>
                </a:lnSpc>
              </a:pPr>
              <a:r>
                <a:rPr lang="en-US" sz="1648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GUIDE NAME: Dr. Shraddha Mankar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32326" y="1611040"/>
            <a:ext cx="6746239" cy="513826"/>
            <a:chOff x="0" y="0"/>
            <a:chExt cx="8994985" cy="68510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94985" cy="685102"/>
            </a:xfrm>
            <a:custGeom>
              <a:avLst/>
              <a:gdLst/>
              <a:ahLst/>
              <a:cxnLst/>
              <a:rect r="r" b="b" t="t" l="l"/>
              <a:pathLst>
                <a:path h="685102" w="8994985">
                  <a:moveTo>
                    <a:pt x="0" y="0"/>
                  </a:moveTo>
                  <a:lnTo>
                    <a:pt x="8994985" y="0"/>
                  </a:lnTo>
                  <a:lnTo>
                    <a:pt x="8994985" y="685102"/>
                  </a:lnTo>
                  <a:lnTo>
                    <a:pt x="0" y="6851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8994985" cy="74225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866"/>
                </a:lnSpc>
              </a:pPr>
              <a:r>
                <a:rPr lang="en-US" sz="1333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DEPARTMENT OF COMPUTER SCIENCE AND ENGINEERING (ARTIFICIAL INTELLIGENCE)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94079" y="2256975"/>
            <a:ext cx="7218098" cy="351609"/>
            <a:chOff x="0" y="0"/>
            <a:chExt cx="9624130" cy="4688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24130" cy="468812"/>
            </a:xfrm>
            <a:custGeom>
              <a:avLst/>
              <a:gdLst/>
              <a:ahLst/>
              <a:cxnLst/>
              <a:rect r="r" b="b" t="t" l="l"/>
              <a:pathLst>
                <a:path h="468812" w="9624130">
                  <a:moveTo>
                    <a:pt x="0" y="0"/>
                  </a:moveTo>
                  <a:lnTo>
                    <a:pt x="9624130" y="0"/>
                  </a:lnTo>
                  <a:lnTo>
                    <a:pt x="9624130" y="468812"/>
                  </a:lnTo>
                  <a:lnTo>
                    <a:pt x="0" y="4688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9624130" cy="4973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538"/>
                </a:lnSpc>
              </a:pPr>
              <a:r>
                <a:rPr lang="en-US" sz="18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A.Y 2025-26  SEM (I)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30794" y="4185299"/>
            <a:ext cx="7211274" cy="669876"/>
            <a:chOff x="0" y="0"/>
            <a:chExt cx="9615032" cy="89316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15032" cy="893168"/>
            </a:xfrm>
            <a:custGeom>
              <a:avLst/>
              <a:gdLst/>
              <a:ahLst/>
              <a:cxnLst/>
              <a:rect r="r" b="b" t="t" l="l"/>
              <a:pathLst>
                <a:path h="893168" w="9615032">
                  <a:moveTo>
                    <a:pt x="0" y="0"/>
                  </a:moveTo>
                  <a:lnTo>
                    <a:pt x="9615032" y="0"/>
                  </a:lnTo>
                  <a:lnTo>
                    <a:pt x="9615032" y="893168"/>
                  </a:lnTo>
                  <a:lnTo>
                    <a:pt x="0" y="893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9615032" cy="95984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759"/>
                </a:lnSpc>
              </a:pPr>
              <a:r>
                <a:rPr lang="en-US" sz="33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Graph Arithmatic Explorer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88" t="0" r="-38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66100" y="1102201"/>
            <a:ext cx="3482708" cy="434530"/>
            <a:chOff x="0" y="0"/>
            <a:chExt cx="4643611" cy="5793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43611" cy="579373"/>
            </a:xfrm>
            <a:custGeom>
              <a:avLst/>
              <a:gdLst/>
              <a:ahLst/>
              <a:cxnLst/>
              <a:rect r="r" b="b" t="t" l="l"/>
              <a:pathLst>
                <a:path h="579373" w="4643611">
                  <a:moveTo>
                    <a:pt x="0" y="0"/>
                  </a:moveTo>
                  <a:lnTo>
                    <a:pt x="4643611" y="0"/>
                  </a:lnTo>
                  <a:lnTo>
                    <a:pt x="4643611" y="579373"/>
                  </a:lnTo>
                  <a:lnTo>
                    <a:pt x="0" y="579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643611" cy="62699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80"/>
                </a:lnSpc>
              </a:pPr>
              <a:r>
                <a:rPr lang="en-US" sz="2415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GROUP MEMBERS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67971" y="2483137"/>
            <a:ext cx="7137260" cy="3253967"/>
            <a:chOff x="0" y="0"/>
            <a:chExt cx="9516347" cy="43386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6347" cy="4338623"/>
            </a:xfrm>
            <a:custGeom>
              <a:avLst/>
              <a:gdLst/>
              <a:ahLst/>
              <a:cxnLst/>
              <a:rect r="r" b="b" t="t" l="l"/>
              <a:pathLst>
                <a:path h="4338623" w="9516347">
                  <a:moveTo>
                    <a:pt x="0" y="0"/>
                  </a:moveTo>
                  <a:lnTo>
                    <a:pt x="9516347" y="0"/>
                  </a:lnTo>
                  <a:lnTo>
                    <a:pt x="9516347" y="4338623"/>
                  </a:lnTo>
                  <a:lnTo>
                    <a:pt x="0" y="43386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9516347" cy="440529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185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1) Sakshi Auti                           - 12310201,  10</a:t>
              </a:r>
            </a:p>
            <a:p>
              <a:pPr algn="l">
                <a:lnSpc>
                  <a:spcPts val="3059"/>
                </a:lnSpc>
              </a:pPr>
            </a:p>
            <a:p>
              <a:pPr algn="l">
                <a:lnSpc>
                  <a:spcPts val="3059"/>
                </a:lnSpc>
              </a:pPr>
              <a:r>
                <a:rPr lang="en-US" sz="2185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2) Pranav Bagade                - 12311134,   13 </a:t>
              </a:r>
            </a:p>
            <a:p>
              <a:pPr algn="l">
                <a:lnSpc>
                  <a:spcPts val="3059"/>
                </a:lnSpc>
              </a:pPr>
            </a:p>
            <a:p>
              <a:pPr algn="l">
                <a:lnSpc>
                  <a:spcPts val="3059"/>
                </a:lnSpc>
              </a:pPr>
              <a:r>
                <a:rPr lang="en-US" sz="2185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3) Gaurang Wankhade    -12311287,   34</a:t>
              </a:r>
            </a:p>
            <a:p>
              <a:pPr algn="l">
                <a:lnSpc>
                  <a:spcPts val="3059"/>
                </a:lnSpc>
              </a:pPr>
            </a:p>
            <a:p>
              <a:pPr algn="l">
                <a:lnSpc>
                  <a:spcPts val="3059"/>
                </a:lnSpc>
              </a:pPr>
              <a:r>
                <a:rPr lang="en-US" sz="2185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4) Aditya Kulkarni                -12311055, 58</a:t>
              </a:r>
            </a:p>
            <a:p>
              <a:pPr algn="l">
                <a:lnSpc>
                  <a:spcPts val="306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88" t="0" r="-38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6397" y="2070698"/>
            <a:ext cx="5143" cy="19907"/>
            <a:chOff x="0" y="0"/>
            <a:chExt cx="6858" cy="265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58" cy="26543"/>
            </a:xfrm>
            <a:custGeom>
              <a:avLst/>
              <a:gdLst/>
              <a:ahLst/>
              <a:cxnLst/>
              <a:rect r="r" b="b" t="t" l="l"/>
              <a:pathLst>
                <a:path h="26543" w="6858">
                  <a:moveTo>
                    <a:pt x="0" y="127"/>
                  </a:moveTo>
                  <a:lnTo>
                    <a:pt x="762" y="0"/>
                  </a:lnTo>
                  <a:lnTo>
                    <a:pt x="6858" y="26416"/>
                  </a:lnTo>
                  <a:lnTo>
                    <a:pt x="6096" y="2654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79435" y="993686"/>
            <a:ext cx="8851450" cy="5377256"/>
            <a:chOff x="0" y="0"/>
            <a:chExt cx="11801933" cy="71696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01983" cy="7169658"/>
            </a:xfrm>
            <a:custGeom>
              <a:avLst/>
              <a:gdLst/>
              <a:ahLst/>
              <a:cxnLst/>
              <a:rect r="r" b="b" t="t" l="l"/>
              <a:pathLst>
                <a:path h="7169658" w="11801983">
                  <a:moveTo>
                    <a:pt x="0" y="0"/>
                  </a:moveTo>
                  <a:lnTo>
                    <a:pt x="11801983" y="0"/>
                  </a:lnTo>
                  <a:lnTo>
                    <a:pt x="11801983" y="7169658"/>
                  </a:lnTo>
                  <a:lnTo>
                    <a:pt x="0" y="7169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0" r="0" b="-5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022722" y="35261"/>
            <a:ext cx="3708156" cy="581025"/>
            <a:chOff x="0" y="0"/>
            <a:chExt cx="4944208" cy="774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44208" cy="774700"/>
            </a:xfrm>
            <a:custGeom>
              <a:avLst/>
              <a:gdLst/>
              <a:ahLst/>
              <a:cxnLst/>
              <a:rect r="r" b="b" t="t" l="l"/>
              <a:pathLst>
                <a:path h="774700" w="4944208">
                  <a:moveTo>
                    <a:pt x="0" y="0"/>
                  </a:moveTo>
                  <a:lnTo>
                    <a:pt x="4944208" y="0"/>
                  </a:lnTo>
                  <a:lnTo>
                    <a:pt x="4944208" y="774700"/>
                  </a:lnTo>
                  <a:lnTo>
                    <a:pt x="0" y="7747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4944208" cy="8985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INTRODUCTION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6890" y="1603207"/>
            <a:ext cx="8396540" cy="4461718"/>
            <a:chOff x="0" y="0"/>
            <a:chExt cx="11195387" cy="59489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195386" cy="5948958"/>
            </a:xfrm>
            <a:custGeom>
              <a:avLst/>
              <a:gdLst/>
              <a:ahLst/>
              <a:cxnLst/>
              <a:rect r="r" b="b" t="t" l="l"/>
              <a:pathLst>
                <a:path h="5948958" w="11195386">
                  <a:moveTo>
                    <a:pt x="0" y="0"/>
                  </a:moveTo>
                  <a:lnTo>
                    <a:pt x="11195386" y="0"/>
                  </a:lnTo>
                  <a:lnTo>
                    <a:pt x="11195386" y="5948958"/>
                  </a:lnTo>
                  <a:lnTo>
                    <a:pt x="0" y="5948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195387" cy="5987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aphs are an essential data structure in computer science used in networking, pathfinding, and data relationships.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Understanding how graph algorithms work can be difficult using only theory.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tool provides an interactive interface to visualize algorithms dynamically.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 bridges the gap between theory and practical understanding of algorithms.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88" t="0" r="-38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95336" y="28003"/>
            <a:ext cx="4101631" cy="514723"/>
            <a:chOff x="0" y="0"/>
            <a:chExt cx="5468841" cy="6862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68841" cy="686297"/>
            </a:xfrm>
            <a:custGeom>
              <a:avLst/>
              <a:gdLst/>
              <a:ahLst/>
              <a:cxnLst/>
              <a:rect r="r" b="b" t="t" l="l"/>
              <a:pathLst>
                <a:path h="686297" w="5468841">
                  <a:moveTo>
                    <a:pt x="0" y="0"/>
                  </a:moveTo>
                  <a:lnTo>
                    <a:pt x="5468841" y="0"/>
                  </a:lnTo>
                  <a:lnTo>
                    <a:pt x="5468841" y="686297"/>
                  </a:lnTo>
                  <a:lnTo>
                    <a:pt x="0" y="6862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468841" cy="74344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3"/>
                </a:lnSpc>
              </a:pPr>
              <a:r>
                <a:rPr lang="en-US" sz="30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Objectives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40851" y="968972"/>
            <a:ext cx="8851450" cy="5377256"/>
            <a:chOff x="0" y="0"/>
            <a:chExt cx="11801933" cy="71696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01983" cy="7169658"/>
            </a:xfrm>
            <a:custGeom>
              <a:avLst/>
              <a:gdLst/>
              <a:ahLst/>
              <a:cxnLst/>
              <a:rect r="r" b="b" t="t" l="l"/>
              <a:pathLst>
                <a:path h="7169658" w="11801983">
                  <a:moveTo>
                    <a:pt x="0" y="0"/>
                  </a:moveTo>
                  <a:lnTo>
                    <a:pt x="11801983" y="0"/>
                  </a:lnTo>
                  <a:lnTo>
                    <a:pt x="11801983" y="7169658"/>
                  </a:lnTo>
                  <a:lnTo>
                    <a:pt x="0" y="7169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0" r="0" b="-5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1276" y="1128447"/>
            <a:ext cx="8610600" cy="4461718"/>
            <a:chOff x="0" y="0"/>
            <a:chExt cx="11480800" cy="59489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80800" cy="5948958"/>
            </a:xfrm>
            <a:custGeom>
              <a:avLst/>
              <a:gdLst/>
              <a:ahLst/>
              <a:cxnLst/>
              <a:rect r="r" b="b" t="t" l="l"/>
              <a:pathLst>
                <a:path h="5948958" w="11480800">
                  <a:moveTo>
                    <a:pt x="0" y="0"/>
                  </a:moveTo>
                  <a:lnTo>
                    <a:pt x="11480800" y="0"/>
                  </a:lnTo>
                  <a:lnTo>
                    <a:pt x="11480800" y="5948958"/>
                  </a:lnTo>
                  <a:lnTo>
                    <a:pt x="0" y="5948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480800" cy="5987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To create and edit graphs using a graphical interface.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simulat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 algorithms step by step (manual or automatic mode).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display algorithm pseudocode and data structures in real-time.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provide performance metrics – time taken, complexity, number of steps.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allow comparison of multiple graph algorithms on the same graph.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88" t="0" r="-38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95336" y="28003"/>
            <a:ext cx="4101631" cy="595068"/>
            <a:chOff x="0" y="0"/>
            <a:chExt cx="5468841" cy="7934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68841" cy="793424"/>
            </a:xfrm>
            <a:custGeom>
              <a:avLst/>
              <a:gdLst/>
              <a:ahLst/>
              <a:cxnLst/>
              <a:rect r="r" b="b" t="t" l="l"/>
              <a:pathLst>
                <a:path h="793424" w="5468841">
                  <a:moveTo>
                    <a:pt x="0" y="0"/>
                  </a:moveTo>
                  <a:lnTo>
                    <a:pt x="5468841" y="0"/>
                  </a:lnTo>
                  <a:lnTo>
                    <a:pt x="5468841" y="793424"/>
                  </a:lnTo>
                  <a:lnTo>
                    <a:pt x="0" y="793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468841" cy="85057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3"/>
                </a:lnSpc>
              </a:pPr>
              <a:r>
                <a:rPr lang="en-US" sz="30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</a:t>
              </a:r>
              <a:r>
                <a:rPr lang="en-US" sz="30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echnologies Used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20426" y="542726"/>
            <a:ext cx="8851450" cy="6772474"/>
            <a:chOff x="0" y="0"/>
            <a:chExt cx="11801933" cy="9029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01983" cy="9029975"/>
            </a:xfrm>
            <a:custGeom>
              <a:avLst/>
              <a:gdLst/>
              <a:ahLst/>
              <a:cxnLst/>
              <a:rect r="r" b="b" t="t" l="l"/>
              <a:pathLst>
                <a:path h="9029975" w="11801983">
                  <a:moveTo>
                    <a:pt x="0" y="0"/>
                  </a:moveTo>
                  <a:lnTo>
                    <a:pt x="11801983" y="0"/>
                  </a:lnTo>
                  <a:lnTo>
                    <a:pt x="11801983" y="9029975"/>
                  </a:lnTo>
                  <a:lnTo>
                    <a:pt x="0" y="9029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910" t="0" r="-1291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36159" y="1248120"/>
            <a:ext cx="8219984" cy="6497441"/>
            <a:chOff x="0" y="0"/>
            <a:chExt cx="10959978" cy="86632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59978" cy="8663256"/>
            </a:xfrm>
            <a:custGeom>
              <a:avLst/>
              <a:gdLst/>
              <a:ahLst/>
              <a:cxnLst/>
              <a:rect r="r" b="b" t="t" l="l"/>
              <a:pathLst>
                <a:path h="8663256" w="10959978">
                  <a:moveTo>
                    <a:pt x="0" y="0"/>
                  </a:moveTo>
                  <a:lnTo>
                    <a:pt x="10959978" y="0"/>
                  </a:lnTo>
                  <a:lnTo>
                    <a:pt x="10959978" y="8663256"/>
                  </a:lnTo>
                  <a:lnTo>
                    <a:pt x="0" y="86632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959978" cy="870135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</a:t>
              </a: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tend: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HTML5: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Structure of the web page and content.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Tailwind CSS: For styling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and responsiv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 UI using utility classes.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JavaScript: Main logic for drawing, running algorithms,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and interactivi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Canvas API: Used to draw and animate the graph elements dynamically.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Additional Design Details: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Smooth gradients and hover effects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using Tailwind.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sponsive layout for both large and small screens.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Lightweight, runs entirely in the browser – no backend required.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746760" indent="-248920" lvl="2">
                <a:lnSpc>
                  <a:spcPts val="287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88" t="0" r="-38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95336" y="28003"/>
            <a:ext cx="4101631" cy="595068"/>
            <a:chOff x="0" y="0"/>
            <a:chExt cx="5468841" cy="7934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68841" cy="793424"/>
            </a:xfrm>
            <a:custGeom>
              <a:avLst/>
              <a:gdLst/>
              <a:ahLst/>
              <a:cxnLst/>
              <a:rect r="r" b="b" t="t" l="l"/>
              <a:pathLst>
                <a:path h="793424" w="5468841">
                  <a:moveTo>
                    <a:pt x="0" y="0"/>
                  </a:moveTo>
                  <a:lnTo>
                    <a:pt x="5468841" y="0"/>
                  </a:lnTo>
                  <a:lnTo>
                    <a:pt x="5468841" y="793424"/>
                  </a:lnTo>
                  <a:lnTo>
                    <a:pt x="0" y="793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468841" cy="85057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3"/>
                </a:lnSpc>
              </a:pPr>
              <a:r>
                <a:rPr lang="en-US" sz="30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</a:t>
              </a:r>
              <a:r>
                <a:rPr lang="en-US" sz="30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ey Features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623071"/>
            <a:ext cx="8851450" cy="6772474"/>
            <a:chOff x="0" y="0"/>
            <a:chExt cx="11801933" cy="9029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01983" cy="9029975"/>
            </a:xfrm>
            <a:custGeom>
              <a:avLst/>
              <a:gdLst/>
              <a:ahLst/>
              <a:cxnLst/>
              <a:rect r="r" b="b" t="t" l="l"/>
              <a:pathLst>
                <a:path h="9029975" w="11801983">
                  <a:moveTo>
                    <a:pt x="0" y="0"/>
                  </a:moveTo>
                  <a:lnTo>
                    <a:pt x="11801983" y="0"/>
                  </a:lnTo>
                  <a:lnTo>
                    <a:pt x="11801983" y="9029975"/>
                  </a:lnTo>
                  <a:lnTo>
                    <a:pt x="0" y="9029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910" t="0" r="-1291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59620" y="325537"/>
            <a:ext cx="9840640" cy="6995368"/>
            <a:chOff x="0" y="0"/>
            <a:chExt cx="13120853" cy="93271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20853" cy="9327158"/>
            </a:xfrm>
            <a:custGeom>
              <a:avLst/>
              <a:gdLst/>
              <a:ahLst/>
              <a:cxnLst/>
              <a:rect r="r" b="b" t="t" l="l"/>
              <a:pathLst>
                <a:path h="9327158" w="13120853">
                  <a:moveTo>
                    <a:pt x="0" y="0"/>
                  </a:moveTo>
                  <a:lnTo>
                    <a:pt x="13120853" y="0"/>
                  </a:lnTo>
                  <a:lnTo>
                    <a:pt x="13120853" y="9327158"/>
                  </a:lnTo>
                  <a:lnTo>
                    <a:pt x="0" y="93271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120853" cy="936525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Interactive Graph Builder:</a:t>
              </a:r>
            </a:p>
            <a:p>
              <a:pPr algn="l">
                <a:lnSpc>
                  <a:spcPts val="2640"/>
                </a:lnSpc>
              </a:pPr>
            </a:p>
            <a:p>
              <a:pPr algn="l" marL="653151" indent="-32657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 or delete nodes and edges 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</a:t>
              </a: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easily by clicking on the canvas.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653151" indent="-32657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Choose directed or undirected graphs.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653151" indent="-32657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Assign weights to edges for weighted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algorithms.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653151" indent="-32657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Load preset graphs like Complete (K5),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Bipartite, or Sparse Tree.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653151" indent="-32657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Generate random graphs by specifying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number of nodes and edges.</a:t>
              </a:r>
            </a:p>
            <a:p>
              <a:pPr algn="l">
                <a:lnSpc>
                  <a:spcPts val="2640"/>
                </a:lnSpc>
              </a:pPr>
            </a:p>
            <a:p>
              <a:pPr algn="l">
                <a:lnSpc>
                  <a:spcPts val="2640"/>
                </a:lnSpc>
              </a:pPr>
            </a:p>
            <a:p>
              <a:pPr algn="l">
                <a:lnSpc>
                  <a:spcPts val="28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794566" y="1198369"/>
            <a:ext cx="3959034" cy="4979108"/>
          </a:xfrm>
          <a:custGeom>
            <a:avLst/>
            <a:gdLst/>
            <a:ahLst/>
            <a:cxnLst/>
            <a:rect r="r" b="b" t="t" l="l"/>
            <a:pathLst>
              <a:path h="4979108" w="3959034">
                <a:moveTo>
                  <a:pt x="0" y="0"/>
                </a:moveTo>
                <a:lnTo>
                  <a:pt x="3959034" y="0"/>
                </a:lnTo>
                <a:lnTo>
                  <a:pt x="3959034" y="4979108"/>
                </a:lnTo>
                <a:lnTo>
                  <a:pt x="0" y="4979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10" t="0" r="-141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88" t="0" r="-38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95336" y="28003"/>
            <a:ext cx="4101631" cy="595068"/>
            <a:chOff x="0" y="0"/>
            <a:chExt cx="5468841" cy="7934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68841" cy="793424"/>
            </a:xfrm>
            <a:custGeom>
              <a:avLst/>
              <a:gdLst/>
              <a:ahLst/>
              <a:cxnLst/>
              <a:rect r="r" b="b" t="t" l="l"/>
              <a:pathLst>
                <a:path h="793424" w="5468841">
                  <a:moveTo>
                    <a:pt x="0" y="0"/>
                  </a:moveTo>
                  <a:lnTo>
                    <a:pt x="5468841" y="0"/>
                  </a:lnTo>
                  <a:lnTo>
                    <a:pt x="5468841" y="793424"/>
                  </a:lnTo>
                  <a:lnTo>
                    <a:pt x="0" y="793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468841" cy="85057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3"/>
                </a:lnSpc>
              </a:pPr>
              <a:r>
                <a:rPr lang="en-US" sz="30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</a:t>
              </a:r>
              <a:r>
                <a:rPr lang="en-US" sz="30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ey Features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623071"/>
            <a:ext cx="8851450" cy="6772474"/>
            <a:chOff x="0" y="0"/>
            <a:chExt cx="11801933" cy="9029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01983" cy="9029975"/>
            </a:xfrm>
            <a:custGeom>
              <a:avLst/>
              <a:gdLst/>
              <a:ahLst/>
              <a:cxnLst/>
              <a:rect r="r" b="b" t="t" l="l"/>
              <a:pathLst>
                <a:path h="9029975" w="11801983">
                  <a:moveTo>
                    <a:pt x="0" y="0"/>
                  </a:moveTo>
                  <a:lnTo>
                    <a:pt x="11801983" y="0"/>
                  </a:lnTo>
                  <a:lnTo>
                    <a:pt x="11801983" y="9029975"/>
                  </a:lnTo>
                  <a:lnTo>
                    <a:pt x="0" y="9029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910" t="0" r="-1291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59620" y="325537"/>
            <a:ext cx="9840640" cy="6995368"/>
            <a:chOff x="0" y="0"/>
            <a:chExt cx="13120853" cy="93271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20853" cy="9327158"/>
            </a:xfrm>
            <a:custGeom>
              <a:avLst/>
              <a:gdLst/>
              <a:ahLst/>
              <a:cxnLst/>
              <a:rect r="r" b="b" t="t" l="l"/>
              <a:pathLst>
                <a:path h="9327158" w="13120853">
                  <a:moveTo>
                    <a:pt x="0" y="0"/>
                  </a:moveTo>
                  <a:lnTo>
                    <a:pt x="13120853" y="0"/>
                  </a:lnTo>
                  <a:lnTo>
                    <a:pt x="13120853" y="9327158"/>
                  </a:lnTo>
                  <a:lnTo>
                    <a:pt x="0" y="93271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120853" cy="936525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640"/>
                </a:lnSpc>
              </a:pPr>
            </a:p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 Setup &amp; Control:</a:t>
              </a:r>
            </a:p>
            <a:p>
              <a:pPr algn="l" marL="653151" indent="-32657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Select any algorithm (BFS, DFS, Dijkstra,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etc.) from the dropdown.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653151" indent="-32657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Choose start and target nodes.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653151" indent="-32657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 speed using a slider.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653151" indent="-32657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 Next Step, Auto Play, and Reset 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</a:t>
              </a: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buttons.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479940" y="1557079"/>
            <a:ext cx="4103030" cy="4904457"/>
          </a:xfrm>
          <a:custGeom>
            <a:avLst/>
            <a:gdLst/>
            <a:ahLst/>
            <a:cxnLst/>
            <a:rect r="r" b="b" t="t" l="l"/>
            <a:pathLst>
              <a:path h="4904457" w="4103030">
                <a:moveTo>
                  <a:pt x="0" y="0"/>
                </a:moveTo>
                <a:lnTo>
                  <a:pt x="4103030" y="0"/>
                </a:lnTo>
                <a:lnTo>
                  <a:pt x="4103030" y="4904457"/>
                </a:lnTo>
                <a:lnTo>
                  <a:pt x="0" y="49044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88" t="0" r="-38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95336" y="28003"/>
            <a:ext cx="4973440" cy="595068"/>
            <a:chOff x="0" y="0"/>
            <a:chExt cx="6631253" cy="7934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31253" cy="793424"/>
            </a:xfrm>
            <a:custGeom>
              <a:avLst/>
              <a:gdLst/>
              <a:ahLst/>
              <a:cxnLst/>
              <a:rect r="r" b="b" t="t" l="l"/>
              <a:pathLst>
                <a:path h="793424" w="6631253">
                  <a:moveTo>
                    <a:pt x="0" y="0"/>
                  </a:moveTo>
                  <a:lnTo>
                    <a:pt x="6631253" y="0"/>
                  </a:lnTo>
                  <a:lnTo>
                    <a:pt x="6631253" y="793424"/>
                  </a:lnTo>
                  <a:lnTo>
                    <a:pt x="0" y="793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6631253" cy="85057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3"/>
                </a:lnSpc>
              </a:pPr>
              <a:r>
                <a:rPr lang="en-US" sz="30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Algorithms</a:t>
              </a:r>
              <a:r>
                <a:rPr lang="en-US" sz="30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Implemented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623071"/>
            <a:ext cx="8851450" cy="6772474"/>
            <a:chOff x="0" y="0"/>
            <a:chExt cx="11801933" cy="9029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01983" cy="9029975"/>
            </a:xfrm>
            <a:custGeom>
              <a:avLst/>
              <a:gdLst/>
              <a:ahLst/>
              <a:cxnLst/>
              <a:rect r="r" b="b" t="t" l="l"/>
              <a:pathLst>
                <a:path h="9029975" w="11801983">
                  <a:moveTo>
                    <a:pt x="0" y="0"/>
                  </a:moveTo>
                  <a:lnTo>
                    <a:pt x="11801983" y="0"/>
                  </a:lnTo>
                  <a:lnTo>
                    <a:pt x="11801983" y="9029975"/>
                  </a:lnTo>
                  <a:lnTo>
                    <a:pt x="0" y="9029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910" t="0" r="-1291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02754" y="731520"/>
            <a:ext cx="8880216" cy="6995368"/>
            <a:chOff x="0" y="0"/>
            <a:chExt cx="11840288" cy="93271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840287" cy="9327158"/>
            </a:xfrm>
            <a:custGeom>
              <a:avLst/>
              <a:gdLst/>
              <a:ahLst/>
              <a:cxnLst/>
              <a:rect r="r" b="b" t="t" l="l"/>
              <a:pathLst>
                <a:path h="9327158" w="11840287">
                  <a:moveTo>
                    <a:pt x="0" y="0"/>
                  </a:moveTo>
                  <a:lnTo>
                    <a:pt x="11840287" y="0"/>
                  </a:lnTo>
                  <a:lnTo>
                    <a:pt x="11840287" y="9327158"/>
                  </a:lnTo>
                  <a:lnTo>
                    <a:pt x="0" y="93271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840288" cy="936525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Pathfinding Algorithms:</a:t>
              </a:r>
            </a:p>
            <a:p>
              <a:pPr algn="l" marL="653148" indent="-32657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BFS (Breadth-First Search): Explores nodes level by level.</a:t>
              </a:r>
            </a:p>
            <a:p>
              <a:pPr algn="l" marL="653148" indent="-32657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DFS (Depth-First Search): Explores as deep as possible before backtracking.</a:t>
              </a:r>
            </a:p>
            <a:p>
              <a:pPr algn="l" marL="653148" indent="-32657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Dijkstra’s Algorithm: Finds shortest path with non-negative weights.</a:t>
              </a:r>
            </a:p>
            <a:p>
              <a:pPr algn="l" marL="653148" indent="-32657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Bellman-Ford Algorithm: Handles negative weights; detects negative cycles.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Minimum Spanning Tree Algorithms:</a:t>
              </a:r>
            </a:p>
            <a:p>
              <a:pPr algn="l" marL="653151" indent="-32657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Prim’s Algorithm: Builds MST by expanding from a starting vertex.</a:t>
              </a:r>
            </a:p>
            <a:p>
              <a:pPr algn="l" marL="653151" indent="-32657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Kruskal’s Algorithm: Sorts all edges and connects components.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All-Pairs Shortest Path:</a:t>
              </a:r>
            </a:p>
            <a:p>
              <a:pPr algn="l" marL="653151" indent="-32657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Floyd–Warshall Algorithm: Computes shortest paths between all vertex pairs.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345119" y="5553273"/>
            <a:ext cx="2676961" cy="1761927"/>
          </a:xfrm>
          <a:custGeom>
            <a:avLst/>
            <a:gdLst/>
            <a:ahLst/>
            <a:cxnLst/>
            <a:rect r="r" b="b" t="t" l="l"/>
            <a:pathLst>
              <a:path h="1761927" w="2676961">
                <a:moveTo>
                  <a:pt x="0" y="0"/>
                </a:moveTo>
                <a:lnTo>
                  <a:pt x="2676961" y="0"/>
                </a:lnTo>
                <a:lnTo>
                  <a:pt x="2676961" y="1761927"/>
                </a:lnTo>
                <a:lnTo>
                  <a:pt x="0" y="17619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88" t="0" r="-38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95336" y="28003"/>
            <a:ext cx="4973440" cy="595068"/>
            <a:chOff x="0" y="0"/>
            <a:chExt cx="6631253" cy="7934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31253" cy="793424"/>
            </a:xfrm>
            <a:custGeom>
              <a:avLst/>
              <a:gdLst/>
              <a:ahLst/>
              <a:cxnLst/>
              <a:rect r="r" b="b" t="t" l="l"/>
              <a:pathLst>
                <a:path h="793424" w="6631253">
                  <a:moveTo>
                    <a:pt x="0" y="0"/>
                  </a:moveTo>
                  <a:lnTo>
                    <a:pt x="6631253" y="0"/>
                  </a:lnTo>
                  <a:lnTo>
                    <a:pt x="6631253" y="793424"/>
                  </a:lnTo>
                  <a:lnTo>
                    <a:pt x="0" y="793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6631253" cy="85057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3"/>
                </a:lnSpc>
              </a:pPr>
              <a:r>
                <a:rPr lang="en-US" sz="30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Visualizatio</a:t>
              </a:r>
              <a:r>
                <a:rPr lang="en-US" sz="30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623071"/>
            <a:ext cx="8851450" cy="6772474"/>
            <a:chOff x="0" y="0"/>
            <a:chExt cx="11801933" cy="9029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01983" cy="9029975"/>
            </a:xfrm>
            <a:custGeom>
              <a:avLst/>
              <a:gdLst/>
              <a:ahLst/>
              <a:cxnLst/>
              <a:rect r="r" b="b" t="t" l="l"/>
              <a:pathLst>
                <a:path h="9029975" w="11801983">
                  <a:moveTo>
                    <a:pt x="0" y="0"/>
                  </a:moveTo>
                  <a:lnTo>
                    <a:pt x="11801983" y="0"/>
                  </a:lnTo>
                  <a:lnTo>
                    <a:pt x="11801983" y="9029975"/>
                  </a:lnTo>
                  <a:lnTo>
                    <a:pt x="0" y="9029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910" t="0" r="-1291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84918" y="881995"/>
            <a:ext cx="4306111" cy="3127313"/>
          </a:xfrm>
          <a:custGeom>
            <a:avLst/>
            <a:gdLst/>
            <a:ahLst/>
            <a:cxnLst/>
            <a:rect r="r" b="b" t="t" l="l"/>
            <a:pathLst>
              <a:path h="3127313" w="4306111">
                <a:moveTo>
                  <a:pt x="0" y="0"/>
                </a:moveTo>
                <a:lnTo>
                  <a:pt x="4306110" y="0"/>
                </a:lnTo>
                <a:lnTo>
                  <a:pt x="4306110" y="3127313"/>
                </a:lnTo>
                <a:lnTo>
                  <a:pt x="0" y="312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191028" y="881995"/>
            <a:ext cx="3831052" cy="4352075"/>
          </a:xfrm>
          <a:custGeom>
            <a:avLst/>
            <a:gdLst/>
            <a:ahLst/>
            <a:cxnLst/>
            <a:rect r="r" b="b" t="t" l="l"/>
            <a:pathLst>
              <a:path h="4352075" w="3831052">
                <a:moveTo>
                  <a:pt x="0" y="0"/>
                </a:moveTo>
                <a:lnTo>
                  <a:pt x="3831052" y="0"/>
                </a:lnTo>
                <a:lnTo>
                  <a:pt x="3831052" y="4352075"/>
                </a:lnTo>
                <a:lnTo>
                  <a:pt x="0" y="4352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46413" y="4987651"/>
            <a:ext cx="5741445" cy="1316681"/>
          </a:xfrm>
          <a:custGeom>
            <a:avLst/>
            <a:gdLst/>
            <a:ahLst/>
            <a:cxnLst/>
            <a:rect r="r" b="b" t="t" l="l"/>
            <a:pathLst>
              <a:path h="1316681" w="5741445">
                <a:moveTo>
                  <a:pt x="0" y="0"/>
                </a:moveTo>
                <a:lnTo>
                  <a:pt x="5741445" y="0"/>
                </a:lnTo>
                <a:lnTo>
                  <a:pt x="5741445" y="1316681"/>
                </a:lnTo>
                <a:lnTo>
                  <a:pt x="0" y="13166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88" t="0" r="-38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28680" y="28003"/>
            <a:ext cx="5840096" cy="595068"/>
            <a:chOff x="0" y="0"/>
            <a:chExt cx="7786795" cy="7934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86794" cy="793424"/>
            </a:xfrm>
            <a:custGeom>
              <a:avLst/>
              <a:gdLst/>
              <a:ahLst/>
              <a:cxnLst/>
              <a:rect r="r" b="b" t="t" l="l"/>
              <a:pathLst>
                <a:path h="793424" w="7786794">
                  <a:moveTo>
                    <a:pt x="0" y="0"/>
                  </a:moveTo>
                  <a:lnTo>
                    <a:pt x="7786794" y="0"/>
                  </a:lnTo>
                  <a:lnTo>
                    <a:pt x="7786794" y="793424"/>
                  </a:lnTo>
                  <a:lnTo>
                    <a:pt x="0" y="793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7786795" cy="85057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3"/>
                </a:lnSpc>
              </a:pPr>
              <a:r>
                <a:rPr lang="en-US" sz="30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Conclusion &amp; Future Scope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623071"/>
            <a:ext cx="8851450" cy="6772474"/>
            <a:chOff x="0" y="0"/>
            <a:chExt cx="11801933" cy="9029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01983" cy="9029975"/>
            </a:xfrm>
            <a:custGeom>
              <a:avLst/>
              <a:gdLst/>
              <a:ahLst/>
              <a:cxnLst/>
              <a:rect r="r" b="b" t="t" l="l"/>
              <a:pathLst>
                <a:path h="9029975" w="11801983">
                  <a:moveTo>
                    <a:pt x="0" y="0"/>
                  </a:moveTo>
                  <a:lnTo>
                    <a:pt x="11801983" y="0"/>
                  </a:lnTo>
                  <a:lnTo>
                    <a:pt x="11801983" y="9029975"/>
                  </a:lnTo>
                  <a:lnTo>
                    <a:pt x="0" y="9029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910" t="0" r="-1291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36692" y="623071"/>
            <a:ext cx="8880216" cy="6995368"/>
            <a:chOff x="0" y="0"/>
            <a:chExt cx="11840288" cy="93271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840287" cy="9327158"/>
            </a:xfrm>
            <a:custGeom>
              <a:avLst/>
              <a:gdLst/>
              <a:ahLst/>
              <a:cxnLst/>
              <a:rect r="r" b="b" t="t" l="l"/>
              <a:pathLst>
                <a:path h="9327158" w="11840287">
                  <a:moveTo>
                    <a:pt x="0" y="0"/>
                  </a:moveTo>
                  <a:lnTo>
                    <a:pt x="11840287" y="0"/>
                  </a:lnTo>
                  <a:lnTo>
                    <a:pt x="11840287" y="9327158"/>
                  </a:lnTo>
                  <a:lnTo>
                    <a:pt x="0" y="93271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840288" cy="936525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64551" y="1555442"/>
            <a:ext cx="8585388" cy="4909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Conclusion: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project helps users visualize and understand complex graph algorithms easily.</a:t>
            </a:r>
          </a:p>
          <a:p>
            <a:pPr algn="just">
              <a:lnSpc>
                <a:spcPts val="2940"/>
              </a:lnSpc>
            </a:pP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provides both educational and practical insight into algorithm behavior.</a:t>
            </a:r>
          </a:p>
          <a:p>
            <a:pPr algn="just">
              <a:lnSpc>
                <a:spcPts val="2940"/>
              </a:lnSpc>
            </a:pP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Improves learning experience through interactive exploration.</a:t>
            </a:r>
          </a:p>
          <a:p>
            <a:pPr algn="just">
              <a:lnSpc>
                <a:spcPts val="3360"/>
              </a:lnSpc>
              <a:spcBef>
                <a:spcPct val="0"/>
              </a:spcBef>
            </a:pPr>
          </a:p>
          <a:p>
            <a:pPr algn="just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Enhancements: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Add A* and Topological Sort algorithms.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Enable saving and loading graphs (JSON format).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Show real-time complexity graphs.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Deploy as a web application accessible to students worldwide.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DAG3pjPgXl0</dc:identifier>
  <dcterms:modified xsi:type="dcterms:W3CDTF">2011-08-01T06:04:30Z</dcterms:modified>
  <cp:revision>1</cp:revision>
  <dc:title>DAAOA CP.pptx</dc:title>
</cp:coreProperties>
</file>